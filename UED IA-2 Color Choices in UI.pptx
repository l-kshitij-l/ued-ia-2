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9144000"/>
  <p:notesSz cx="6858000" cy="9144000"/>
  <p:embeddedFontLst>
    <p:embeddedFont>
      <p:font typeface="Marcellus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  <p15:guide id="3" orient="horz" pos="178">
          <p15:clr>
            <a:srgbClr val="747775"/>
          </p15:clr>
        </p15:guide>
        <p15:guide id="4" pos="297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F109CF-780B-481D-9588-9717E003FBF1}">
  <a:tblStyle styleId="{BBF109CF-780B-481D-9588-9717E003FBF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  <p:guide pos="178" orient="horz"/>
        <p:guide pos="297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font" Target="fonts/Marcellus-regular.fntdata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3e21e5c6d5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3e21e5c6d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33e21e5c6d5_0_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3e21e5c6d5_0_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3e21e5c6d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33e21e5c6d5_0_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f551c8c8a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9f551c8c8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39f551c8c8a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f551c8c8a_0_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9f551c8c8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9f551c8c8a_0_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3e21e5c6d5_0_1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3e21e5c6d5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3e21e5c6d5_0_1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62b4cd14e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462b4cd1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3462b4cd14e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9ac6a9182_0_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89ac6a918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389ac6a9182_0_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f551c8c8a_0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9f551c8c8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g39f551c8c8a_0_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3e21e5c6d5_0_1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3e21e5c6d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g33e21e5c6d5_0_1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9f551c8c8a_0_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9f551c8c8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g39f551c8c8a_0_5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f551c8c8a_0_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9f551c8c8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g39f551c8c8a_0_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3e21e5c6d5_0_1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3e21e5c6d5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g33e21e5c6d5_0_15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3e21e5c6d5_0_1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3e21e5c6d5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g33e21e5c6d5_0_1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2"/>
          <p:cNvSpPr txBox="1"/>
          <p:nvPr>
            <p:ph idx="1" type="subTitle"/>
          </p:nvPr>
        </p:nvSpPr>
        <p:spPr>
          <a:xfrm>
            <a:off x="685800" y="3886200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728983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−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  <a:defRPr b="0" i="0" sz="3600" u="none" cap="none" strike="noStrike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655370" y="1189973"/>
            <a:ext cx="8248389" cy="4899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55A11"/>
              </a:buClr>
              <a:buSzPts val="1680"/>
              <a:buFont typeface="Courier New"/>
              <a:buChar char="o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4427"/>
              </a:buClr>
              <a:buSzPts val="1400"/>
              <a:buFont typeface="Times New Roman"/>
              <a:buChar char="−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681575" y="1606006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803704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803013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803013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5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7.xml"/><Relationship Id="rId10" Type="http://schemas.openxmlformats.org/officeDocument/2006/relationships/slideLayout" Target="../slideLayouts/slideLayout6.xml"/><Relationship Id="rId1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8.xml"/><Relationship Id="rId1" Type="http://schemas.openxmlformats.org/officeDocument/2006/relationships/image" Target="../media/image6.pn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.jpg"/><Relationship Id="rId9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0.xml"/><Relationship Id="rId17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2.xml"/><Relationship Id="rId1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148443" y="294320"/>
            <a:ext cx="6847115" cy="737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324390" y="6373654"/>
            <a:ext cx="14559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2/20/2024</a:t>
            </a:r>
            <a:endParaRPr b="1" i="0" sz="14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8240198" y="6347051"/>
            <a:ext cx="6014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i="0" sz="14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1"/>
          <p:cNvCxnSpPr/>
          <p:nvPr/>
        </p:nvCxnSpPr>
        <p:spPr>
          <a:xfrm>
            <a:off x="173929" y="524443"/>
            <a:ext cx="15020" cy="5873873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" name="Google Shape;14;p1"/>
          <p:cNvCxnSpPr/>
          <p:nvPr/>
        </p:nvCxnSpPr>
        <p:spPr>
          <a:xfrm>
            <a:off x="8958782" y="135448"/>
            <a:ext cx="14374" cy="6100958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" name="Google Shape;15;p1"/>
          <p:cNvCxnSpPr/>
          <p:nvPr/>
        </p:nvCxnSpPr>
        <p:spPr>
          <a:xfrm>
            <a:off x="429274" y="135448"/>
            <a:ext cx="8536694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" name="Google Shape;16;p1"/>
          <p:cNvCxnSpPr/>
          <p:nvPr/>
        </p:nvCxnSpPr>
        <p:spPr>
          <a:xfrm flipH="1" rot="-5400000">
            <a:off x="162549" y="6424715"/>
            <a:ext cx="293100" cy="24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1"/>
          <p:cNvCxnSpPr/>
          <p:nvPr/>
        </p:nvCxnSpPr>
        <p:spPr>
          <a:xfrm rot="5400000">
            <a:off x="8611957" y="6330007"/>
            <a:ext cx="454800" cy="267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" name="Google Shape;1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54" y="135448"/>
            <a:ext cx="425219" cy="6722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9588" y="135448"/>
            <a:ext cx="153343" cy="53052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645" y="6043825"/>
            <a:ext cx="651512" cy="647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21" name="Google Shape;2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" y="6214968"/>
            <a:ext cx="1991676" cy="663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5400000">
            <a:off x="4987623" y="3550281"/>
            <a:ext cx="385984" cy="6282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5093663" y="3283949"/>
            <a:ext cx="173904" cy="628205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5"/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color-blindness.com/coblis-color-blindness-simulator/" TargetMode="External"/><Relationship Id="rId10" Type="http://schemas.openxmlformats.org/officeDocument/2006/relationships/hyperlink" Target="https://webaim.org/resources/contrastchecker/" TargetMode="External"/><Relationship Id="rId13" Type="http://schemas.openxmlformats.org/officeDocument/2006/relationships/hyperlink" Target="https://www.nngroup.com/articles/color-enhance-design/?utm_source=chatgpt.com" TargetMode="External"/><Relationship Id="rId12" Type="http://schemas.openxmlformats.org/officeDocument/2006/relationships/hyperlink" Target="https://www.color-blindness.com/coblis-color-blindness-simulator/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hyperlink" Target="https://webaim.org/resources/contrastchecker/" TargetMode="External"/><Relationship Id="rId15" Type="http://schemas.openxmlformats.org/officeDocument/2006/relationships/hyperlink" Target="https://www.smashingmagazine.com/2024/02/designing-for-colorblindness/?utm_source=chatgpt.com" TargetMode="External"/><Relationship Id="rId14" Type="http://schemas.openxmlformats.org/officeDocument/2006/relationships/hyperlink" Target="https://www.nngroup.com/articles/color-enhance-design/?utm_source=chatgpt.com" TargetMode="External"/><Relationship Id="rId16" Type="http://schemas.openxmlformats.org/officeDocument/2006/relationships/hyperlink" Target="https://www.smashingmagazine.com/2024/02/designing-for-colorblindness/?utm_source=chatgpt.com" TargetMode="External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hyperlink" Target="https://www.w3.org/WAI/WCAG21/" TargetMode="External"/><Relationship Id="rId8" Type="http://schemas.openxmlformats.org/officeDocument/2006/relationships/hyperlink" Target="https://www.w3.org/WAI/WCAG21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" y="2220"/>
            <a:ext cx="425219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73" y="0"/>
            <a:ext cx="157258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925" y="42800"/>
            <a:ext cx="2260325" cy="6233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/>
          <p:nvPr/>
        </p:nvSpPr>
        <p:spPr>
          <a:xfrm>
            <a:off x="425675" y="6183600"/>
            <a:ext cx="1496700" cy="67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675" y="6363150"/>
            <a:ext cx="1570075" cy="4558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/>
        </p:nvSpPr>
        <p:spPr>
          <a:xfrm>
            <a:off x="380400" y="954388"/>
            <a:ext cx="8383200" cy="16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59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UED IA-2</a:t>
            </a:r>
            <a:endParaRPr sz="3659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59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 Choices in UI: Impact on Accessibility for Color Blind Users</a:t>
            </a:r>
            <a:endParaRPr sz="3659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704850" y="2901400"/>
            <a:ext cx="7734300" cy="17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Bhakti Lahane   -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16010122093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Kshitij Pandey   -  16010122129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Swarup Pingale  - 16010122145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1165943" y="4627601"/>
            <a:ext cx="681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Faculty: Dr. Uday Joshi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" y="2220"/>
            <a:ext cx="425219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73" y="0"/>
            <a:ext cx="157258" cy="544068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/>
          <p:nvPr>
            <p:ph idx="1" type="subTitle"/>
          </p:nvPr>
        </p:nvSpPr>
        <p:spPr>
          <a:xfrm>
            <a:off x="958700" y="2177650"/>
            <a:ext cx="7739400" cy="25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Accessibility ensures interfaces are usable by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all individuals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including users with disabilities or visual impairments.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One major challenge in digital design is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color-blind accessibility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where users may not distinguish between certain hues.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Inclusive design aims to create experiences that are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equally perceivable, operable, and understandable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for everyone.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925" y="42800"/>
            <a:ext cx="2260325" cy="62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/>
          <p:nvPr/>
        </p:nvSpPr>
        <p:spPr>
          <a:xfrm>
            <a:off x="425675" y="6183600"/>
            <a:ext cx="1496700" cy="67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675" y="6363150"/>
            <a:ext cx="1570075" cy="45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 txBox="1"/>
          <p:nvPr>
            <p:ph type="ctrTitle"/>
          </p:nvPr>
        </p:nvSpPr>
        <p:spPr>
          <a:xfrm>
            <a:off x="2843250" y="611575"/>
            <a:ext cx="37623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US" sz="4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Introduction</a:t>
            </a:r>
            <a:endParaRPr sz="48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1175900" y="1282225"/>
            <a:ext cx="73050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Understanding Accessibility in UI Design</a:t>
            </a:r>
            <a:endParaRPr b="1"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" y="2220"/>
            <a:ext cx="425219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73" y="0"/>
            <a:ext cx="157258" cy="5440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>
            <p:ph type="ctrTitle"/>
          </p:nvPr>
        </p:nvSpPr>
        <p:spPr>
          <a:xfrm>
            <a:off x="2513875" y="666100"/>
            <a:ext cx="51465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12500"/>
              <a:buFont typeface="Marcellus"/>
              <a:buNone/>
            </a:pPr>
            <a:r>
              <a:rPr lang="en-US" sz="4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Problem Definition</a:t>
            </a:r>
            <a:endParaRPr sz="48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23" name="Google Shape;123;p18"/>
          <p:cNvSpPr txBox="1"/>
          <p:nvPr>
            <p:ph idx="1" type="subTitle"/>
          </p:nvPr>
        </p:nvSpPr>
        <p:spPr>
          <a:xfrm>
            <a:off x="774300" y="1647050"/>
            <a:ext cx="79002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457200" marR="328940" rtl="0" algn="just">
              <a:lnSpc>
                <a:spcPct val="115000"/>
              </a:lnSpc>
              <a:spcBef>
                <a:spcPts val="669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Modern interfaces often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depend heavily on color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to indicate status, actions, and alerts.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32894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Users with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color vision deficiencies (Deuteranopia, Protanopia, Tritanopia)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cannot distinguish between certain color combinations.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32894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This leads to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usability barriers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such as difficulty recognizing buttons, offers, or warnings.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32894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project aims to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identify and resolve these accessibility issues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by applying inclusive design and WCAG color guidelines.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925" y="42800"/>
            <a:ext cx="2260325" cy="62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/>
          <p:nvPr/>
        </p:nvSpPr>
        <p:spPr>
          <a:xfrm>
            <a:off x="425675" y="6183600"/>
            <a:ext cx="1496700" cy="67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675" y="6363150"/>
            <a:ext cx="1570075" cy="45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" y="2220"/>
            <a:ext cx="425219" cy="6855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73" y="0"/>
            <a:ext cx="157258" cy="544067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ctrTitle"/>
          </p:nvPr>
        </p:nvSpPr>
        <p:spPr>
          <a:xfrm>
            <a:off x="2843250" y="611575"/>
            <a:ext cx="37623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US" sz="4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Objectives</a:t>
            </a:r>
            <a:endParaRPr sz="48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35" name="Google Shape;135;p19"/>
          <p:cNvSpPr txBox="1"/>
          <p:nvPr>
            <p:ph idx="1" type="subTitle"/>
          </p:nvPr>
        </p:nvSpPr>
        <p:spPr>
          <a:xfrm>
            <a:off x="774300" y="1691850"/>
            <a:ext cx="79002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457200" marR="328940" rtl="0" algn="just">
              <a:lnSpc>
                <a:spcPct val="115000"/>
              </a:lnSpc>
              <a:spcBef>
                <a:spcPts val="669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analyze the impact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of poor color choices on color-blind users in UI design.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32894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apply accessibility and inclusivity principles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for better visual perception.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32894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To redesign a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 food ordering app prototype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WCAG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-compliant colors and cues.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32894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To demonstrate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Before vs After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improvements through a functional, accessible prototype.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425675" y="6275975"/>
            <a:ext cx="1451400" cy="58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675" y="6363150"/>
            <a:ext cx="1570075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925" y="42800"/>
            <a:ext cx="2260325" cy="62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" y="2220"/>
            <a:ext cx="425219" cy="6855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73" y="0"/>
            <a:ext cx="157258" cy="544067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 txBox="1"/>
          <p:nvPr>
            <p:ph type="ctrTitle"/>
          </p:nvPr>
        </p:nvSpPr>
        <p:spPr>
          <a:xfrm>
            <a:off x="931500" y="666100"/>
            <a:ext cx="7743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12500"/>
              <a:buFont typeface="Marcellus"/>
              <a:buNone/>
            </a:pPr>
            <a:r>
              <a:rPr lang="en-US" sz="4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Impact of Poor Color Choices</a:t>
            </a:r>
            <a:endParaRPr sz="48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47" name="Google Shape;147;p20"/>
          <p:cNvSpPr txBox="1"/>
          <p:nvPr>
            <p:ph idx="1" type="subTitle"/>
          </p:nvPr>
        </p:nvSpPr>
        <p:spPr>
          <a:xfrm>
            <a:off x="774300" y="1599575"/>
            <a:ext cx="7900200" cy="3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Color-blind users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perceive colors differently: red, green, and yellow may look identical.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Relying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only on color cues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causes users to miss critical information (e.g., errors, offers, or statuses).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Low contrast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between text and background makes reading difficult.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Leads to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confusion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errors in interaction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exclusion from full usability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425675" y="6275975"/>
            <a:ext cx="1451400" cy="58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675" y="6363150"/>
            <a:ext cx="1570075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925" y="42800"/>
            <a:ext cx="2260325" cy="62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" y="2220"/>
            <a:ext cx="425219" cy="6855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73" y="0"/>
            <a:ext cx="157258" cy="544067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1"/>
          <p:cNvSpPr txBox="1"/>
          <p:nvPr>
            <p:ph type="ctrTitle"/>
          </p:nvPr>
        </p:nvSpPr>
        <p:spPr>
          <a:xfrm>
            <a:off x="931500" y="666100"/>
            <a:ext cx="7743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12500"/>
              <a:buFont typeface="Marcellus"/>
              <a:buNone/>
            </a:pPr>
            <a:r>
              <a:rPr lang="en-US" sz="4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Types of Color Blindness</a:t>
            </a:r>
            <a:endParaRPr sz="48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425675" y="6275975"/>
            <a:ext cx="1451400" cy="58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675" y="6363150"/>
            <a:ext cx="1570075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925" y="42800"/>
            <a:ext cx="2260325" cy="623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2" name="Google Shape;162;p21"/>
          <p:cNvGraphicFramePr/>
          <p:nvPr/>
        </p:nvGraphicFramePr>
        <p:xfrm>
          <a:off x="743150" y="147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{BBF109CF-780B-481D-9588-9717E003FBF1}</a:tableStyleId>
              </a:tblPr>
              <a:tblGrid>
                <a:gridCol w="1952550"/>
                <a:gridCol w="1873750"/>
                <a:gridCol w="4136175"/>
              </a:tblGrid>
              <a:tr h="384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Type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Description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Effect on UI / Perception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Deuteranopia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Green color blindness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Red and green appear similar; green tones may look brownish.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Protanopia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Red color blindness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Red appears dull or gray; hard to distinguish from dark greens.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Tritanopia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Blue–yellow blindness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Blue and yellow hues appear faded or interchangeable.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Deuteranomaly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Weak green perception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Green appears more red; mild confusion between reds and greens.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Protanomaly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Weak red perception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Reds look darker; may confuse red with brown or black.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Monochromacy (Total Color Blindness)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 color perception at all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Entire interface seen in grayscale, relies fully on brightness contrast.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" y="2220"/>
            <a:ext cx="425219" cy="6855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73" y="0"/>
            <a:ext cx="157258" cy="544067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 txBox="1"/>
          <p:nvPr>
            <p:ph type="ctrTitle"/>
          </p:nvPr>
        </p:nvSpPr>
        <p:spPr>
          <a:xfrm>
            <a:off x="719900" y="736700"/>
            <a:ext cx="8151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860"/>
              <a:buFont typeface="Marcellus"/>
              <a:buNone/>
            </a:pPr>
            <a:r>
              <a:rPr lang="en-US" sz="392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Accessibility &amp; </a:t>
            </a:r>
            <a:endParaRPr sz="392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860"/>
              <a:buFont typeface="Marcellus"/>
              <a:buNone/>
            </a:pPr>
            <a:r>
              <a:rPr lang="en-US" sz="392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Inclusivity Principles</a:t>
            </a:r>
            <a:endParaRPr sz="392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425675" y="6275975"/>
            <a:ext cx="1451400" cy="58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675" y="6363150"/>
            <a:ext cx="1570075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925" y="42800"/>
            <a:ext cx="2260325" cy="62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 txBox="1"/>
          <p:nvPr>
            <p:ph idx="1" type="subTitle"/>
          </p:nvPr>
        </p:nvSpPr>
        <p:spPr>
          <a:xfrm>
            <a:off x="845750" y="2140675"/>
            <a:ext cx="79002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Perceivability: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Information conveyed through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text + icon + color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not color alone.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Operability: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Clear focus indicators &amp; ARIA roles for screen readers.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Understandability: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Consistent visual patterns and meanings for all actions.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Inclusivity: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Designs tested for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color-blind conditions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(Deuteranopia, Protanopia, Tritanopia) to ensure usability for all.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" y="2220"/>
            <a:ext cx="425219" cy="6855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73" y="0"/>
            <a:ext cx="157258" cy="544067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3"/>
          <p:cNvSpPr txBox="1"/>
          <p:nvPr>
            <p:ph type="ctrTitle"/>
          </p:nvPr>
        </p:nvSpPr>
        <p:spPr>
          <a:xfrm>
            <a:off x="2843250" y="611575"/>
            <a:ext cx="45297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12500"/>
              <a:buFont typeface="Marcellus"/>
              <a:buNone/>
            </a:pPr>
            <a:r>
              <a:rPr lang="en-US" sz="4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Implementation</a:t>
            </a:r>
            <a:endParaRPr sz="48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425675" y="6275975"/>
            <a:ext cx="1451400" cy="58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675" y="6363150"/>
            <a:ext cx="1570075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925" y="42800"/>
            <a:ext cx="2260325" cy="62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 txBox="1"/>
          <p:nvPr>
            <p:ph idx="1" type="subTitle"/>
          </p:nvPr>
        </p:nvSpPr>
        <p:spPr>
          <a:xfrm>
            <a:off x="774300" y="1599575"/>
            <a:ext cx="79002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Food Ordering Web App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(YumRush) was used to demonstrate the impact of color choices on accessibility.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Two prototypes were created: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Before (Non-accessible)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After (Accessible)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to compare usability.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redesign followed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WCAG 2.1 AA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standards with improved contrast, text labels, and icon indicators.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" y="2220"/>
            <a:ext cx="425219" cy="6855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73" y="0"/>
            <a:ext cx="157258" cy="544067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4"/>
          <p:cNvSpPr txBox="1"/>
          <p:nvPr>
            <p:ph type="ctrTitle"/>
          </p:nvPr>
        </p:nvSpPr>
        <p:spPr>
          <a:xfrm>
            <a:off x="848400" y="2695725"/>
            <a:ext cx="77520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US" sz="6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BEFORE PROTOTYPE</a:t>
            </a:r>
            <a:endParaRPr sz="68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95" name="Google Shape;195;p24"/>
          <p:cNvSpPr/>
          <p:nvPr/>
        </p:nvSpPr>
        <p:spPr>
          <a:xfrm>
            <a:off x="425675" y="6275975"/>
            <a:ext cx="1451400" cy="58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675" y="6363150"/>
            <a:ext cx="1570075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925" y="42800"/>
            <a:ext cx="2260325" cy="62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4"/>
          <p:cNvPicPr preferRelativeResize="0"/>
          <p:nvPr/>
        </p:nvPicPr>
        <p:blipFill rotWithShape="1">
          <a:blip r:embed="rId7">
            <a:alphaModFix/>
          </a:blip>
          <a:srcRect b="2789" l="0" r="0" t="-2790"/>
          <a:stretch/>
        </p:blipFill>
        <p:spPr>
          <a:xfrm>
            <a:off x="5670531" y="463975"/>
            <a:ext cx="2390775" cy="1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" y="2220"/>
            <a:ext cx="425219" cy="6855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73" y="0"/>
            <a:ext cx="157258" cy="544067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5"/>
          <p:cNvSpPr txBox="1"/>
          <p:nvPr>
            <p:ph type="ctrTitle"/>
          </p:nvPr>
        </p:nvSpPr>
        <p:spPr>
          <a:xfrm>
            <a:off x="1134450" y="740875"/>
            <a:ext cx="74349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12500"/>
              <a:buFont typeface="Marcellus"/>
              <a:buNone/>
            </a:pPr>
            <a:r>
              <a:rPr lang="en-US" sz="4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Color-Accessible Design Tips</a:t>
            </a:r>
            <a:endParaRPr sz="48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07" name="Google Shape;207;p25"/>
          <p:cNvSpPr txBox="1"/>
          <p:nvPr>
            <p:ph idx="1" type="subTitle"/>
          </p:nvPr>
        </p:nvSpPr>
        <p:spPr>
          <a:xfrm>
            <a:off x="774300" y="1599575"/>
            <a:ext cx="79002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color + text + icon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to convey meaning, not color alone.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Maintain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contrast ratio ≥ 4.5:1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between text and background    (WCAG 2.1).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Avoid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confusing color combinations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(like red/green, blue/purple).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patterns, shapes, or labels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as additional indicators.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Test designs using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color-blind simulators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(e.g., Coblis, Stark, or WebAIM).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5"/>
          <p:cNvSpPr/>
          <p:nvPr/>
        </p:nvSpPr>
        <p:spPr>
          <a:xfrm>
            <a:off x="425675" y="6275975"/>
            <a:ext cx="1451400" cy="58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675" y="6363150"/>
            <a:ext cx="1570075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925" y="42800"/>
            <a:ext cx="2260325" cy="62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" y="2220"/>
            <a:ext cx="425219" cy="6855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73" y="0"/>
            <a:ext cx="157258" cy="544067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6"/>
          <p:cNvSpPr txBox="1"/>
          <p:nvPr>
            <p:ph type="ctrTitle"/>
          </p:nvPr>
        </p:nvSpPr>
        <p:spPr>
          <a:xfrm>
            <a:off x="848400" y="2695725"/>
            <a:ext cx="77520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US" sz="6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AFTER</a:t>
            </a:r>
            <a:endParaRPr sz="68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US" sz="6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PROTOTYPE</a:t>
            </a:r>
            <a:endParaRPr sz="68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19" name="Google Shape;219;p26"/>
          <p:cNvSpPr/>
          <p:nvPr/>
        </p:nvSpPr>
        <p:spPr>
          <a:xfrm>
            <a:off x="425675" y="6275975"/>
            <a:ext cx="1451400" cy="58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675" y="6363150"/>
            <a:ext cx="1570075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925" y="42800"/>
            <a:ext cx="2260325" cy="62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6"/>
          <p:cNvPicPr preferRelativeResize="0"/>
          <p:nvPr/>
        </p:nvPicPr>
        <p:blipFill rotWithShape="1">
          <a:blip r:embed="rId7">
            <a:alphaModFix/>
          </a:blip>
          <a:srcRect b="2789" l="0" r="0" t="-2790"/>
          <a:stretch/>
        </p:blipFill>
        <p:spPr>
          <a:xfrm>
            <a:off x="5670531" y="463975"/>
            <a:ext cx="2390775" cy="1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" y="2220"/>
            <a:ext cx="425219" cy="6855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73" y="0"/>
            <a:ext cx="157258" cy="544067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7"/>
          <p:cNvSpPr txBox="1"/>
          <p:nvPr>
            <p:ph type="ctrTitle"/>
          </p:nvPr>
        </p:nvSpPr>
        <p:spPr>
          <a:xfrm>
            <a:off x="1319825" y="679838"/>
            <a:ext cx="69993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12500"/>
              <a:buFont typeface="Marcellus"/>
              <a:buNone/>
            </a:pPr>
            <a:r>
              <a:rPr lang="en-US" sz="4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Color Palette Comparison</a:t>
            </a:r>
            <a:endParaRPr sz="48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31" name="Google Shape;231;p27"/>
          <p:cNvSpPr/>
          <p:nvPr/>
        </p:nvSpPr>
        <p:spPr>
          <a:xfrm>
            <a:off x="425675" y="6275975"/>
            <a:ext cx="1451400" cy="58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675" y="6363150"/>
            <a:ext cx="1570075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925" y="42800"/>
            <a:ext cx="2260325" cy="623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4" name="Google Shape;234;p27"/>
          <p:cNvGraphicFramePr/>
          <p:nvPr/>
        </p:nvGraphicFramePr>
        <p:xfrm>
          <a:off x="1154213" y="1762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{BBF109CF-780B-481D-9588-9717E003FBF1}</a:tableStyleId>
              </a:tblPr>
              <a:tblGrid>
                <a:gridCol w="1547150"/>
                <a:gridCol w="3001525"/>
                <a:gridCol w="2591700"/>
              </a:tblGrid>
              <a:tr h="447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Element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Before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After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Primary Color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Bright green on green (low contrast)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Blue (#2563EB) – readable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Error/Cancel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Green (confusing)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Red (#B91C1C) with ❌ icon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Status Indicators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Color-only dots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Color + text + icon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Contrast Ratio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&lt; 3:1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≥ 4.5:1 (WCAG 2.1 AA)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" y="2220"/>
            <a:ext cx="425219" cy="6855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73" y="0"/>
            <a:ext cx="157258" cy="544067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8"/>
          <p:cNvSpPr txBox="1"/>
          <p:nvPr>
            <p:ph type="ctrTitle"/>
          </p:nvPr>
        </p:nvSpPr>
        <p:spPr>
          <a:xfrm>
            <a:off x="1319825" y="679838"/>
            <a:ext cx="69993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US" sz="4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Accessibility Coverage</a:t>
            </a:r>
            <a:endParaRPr sz="48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43" name="Google Shape;243;p28"/>
          <p:cNvSpPr/>
          <p:nvPr/>
        </p:nvSpPr>
        <p:spPr>
          <a:xfrm>
            <a:off x="425675" y="6275975"/>
            <a:ext cx="1451400" cy="58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4" name="Google Shape;24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675" y="6363150"/>
            <a:ext cx="1570075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925" y="42800"/>
            <a:ext cx="2260325" cy="623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6" name="Google Shape;246;p28"/>
          <p:cNvGraphicFramePr/>
          <p:nvPr/>
        </p:nvGraphicFramePr>
        <p:xfrm>
          <a:off x="965913" y="1778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{BBF109CF-780B-481D-9588-9717E003FBF1}</a:tableStyleId>
              </a:tblPr>
              <a:tblGrid>
                <a:gridCol w="2363450"/>
                <a:gridCol w="2364775"/>
                <a:gridCol w="2788725"/>
              </a:tblGrid>
              <a:tr h="443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Color-Blind Type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Challenge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Solution Implemented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Deuteranopia (Green Deficiency)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Cannot distinguish red/green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Added ✅/❌ labels + icons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Protanopia (Red Deficiency)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Red appears dull or gray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Textual cues replace color dependence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Tritanopia (Blue–Yellow Deficiency)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Confusion in blue/yellow tones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Used distinct luminance + text contrast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Low Vision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Low color contrast readability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Adopted WCAG-approved color contrast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" y="2220"/>
            <a:ext cx="425219" cy="6855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73" y="0"/>
            <a:ext cx="157258" cy="5440679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9"/>
          <p:cNvSpPr txBox="1"/>
          <p:nvPr>
            <p:ph type="ctrTitle"/>
          </p:nvPr>
        </p:nvSpPr>
        <p:spPr>
          <a:xfrm>
            <a:off x="1319825" y="679838"/>
            <a:ext cx="69993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US" sz="4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Accessibility Coverage</a:t>
            </a:r>
            <a:endParaRPr sz="48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55" name="Google Shape;255;p29"/>
          <p:cNvSpPr/>
          <p:nvPr/>
        </p:nvSpPr>
        <p:spPr>
          <a:xfrm>
            <a:off x="425675" y="6275975"/>
            <a:ext cx="1451400" cy="58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6" name="Google Shape;25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675" y="6363150"/>
            <a:ext cx="1570075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925" y="42800"/>
            <a:ext cx="2260325" cy="623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8" name="Google Shape;258;p29"/>
          <p:cNvGraphicFramePr/>
          <p:nvPr/>
        </p:nvGraphicFramePr>
        <p:xfrm>
          <a:off x="1595788" y="181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{BBF109CF-780B-481D-9588-9717E003FBF1}</a:tableStyleId>
              </a:tblPr>
              <a:tblGrid>
                <a:gridCol w="2427575"/>
                <a:gridCol w="1955625"/>
                <a:gridCol w="2051675"/>
              </a:tblGrid>
              <a:tr h="56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Evaluation Parameter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Before Prototype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After Prototype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Accessibility compliance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❌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✅ WCAG 2.1 AA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Contrast ratio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Low (&lt;3:1)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High (≥4.5:1)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Icon/Text usage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Color only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Text + Icon + Color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Readability for color-blind users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Poor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Improved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Usability feedback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Confusing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Clear &amp; Inclusive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" y="2220"/>
            <a:ext cx="425219" cy="6855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73" y="0"/>
            <a:ext cx="157258" cy="544067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0"/>
          <p:cNvSpPr txBox="1"/>
          <p:nvPr>
            <p:ph type="ctrTitle"/>
          </p:nvPr>
        </p:nvSpPr>
        <p:spPr>
          <a:xfrm>
            <a:off x="2843250" y="611575"/>
            <a:ext cx="42414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US" sz="4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Conclusion</a:t>
            </a:r>
            <a:endParaRPr sz="48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67" name="Google Shape;267;p30"/>
          <p:cNvSpPr/>
          <p:nvPr/>
        </p:nvSpPr>
        <p:spPr>
          <a:xfrm>
            <a:off x="425675" y="6275975"/>
            <a:ext cx="1451400" cy="58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675" y="6363150"/>
            <a:ext cx="1570075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925" y="42800"/>
            <a:ext cx="2260325" cy="62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0"/>
          <p:cNvSpPr txBox="1"/>
          <p:nvPr>
            <p:ph idx="1" type="subTitle"/>
          </p:nvPr>
        </p:nvSpPr>
        <p:spPr>
          <a:xfrm>
            <a:off x="774300" y="1517575"/>
            <a:ext cx="7900200" cy="3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Accessibility is not an option, it’s a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core design responsibility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Color alone should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never convey critical information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Simple design adjustments ensure inclusivity for all users.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redesigned UI successfully addresses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color-blind accessibility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using WCAG standards.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“Designing for inclusivity ensures usability for everyone.”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" y="2220"/>
            <a:ext cx="425219" cy="6855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73" y="0"/>
            <a:ext cx="157258" cy="544067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1"/>
          <p:cNvSpPr txBox="1"/>
          <p:nvPr>
            <p:ph type="ctrTitle"/>
          </p:nvPr>
        </p:nvSpPr>
        <p:spPr>
          <a:xfrm>
            <a:off x="2843250" y="611575"/>
            <a:ext cx="42414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US" sz="4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References</a:t>
            </a:r>
            <a:endParaRPr sz="48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79" name="Google Shape;279;p31"/>
          <p:cNvSpPr/>
          <p:nvPr/>
        </p:nvSpPr>
        <p:spPr>
          <a:xfrm>
            <a:off x="425675" y="6275975"/>
            <a:ext cx="1451400" cy="58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0" name="Google Shape;28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675" y="6363150"/>
            <a:ext cx="1570075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925" y="42800"/>
            <a:ext cx="2260325" cy="62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1"/>
          <p:cNvSpPr txBox="1"/>
          <p:nvPr>
            <p:ph idx="1" type="subTitle"/>
          </p:nvPr>
        </p:nvSpPr>
        <p:spPr>
          <a:xfrm>
            <a:off x="774300" y="1415050"/>
            <a:ext cx="8097600" cy="40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[1]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W3C Web Accessibility Initiative (WAI)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(2018). </a:t>
            </a:r>
            <a:r>
              <a:rPr i="1" lang="en-US" sz="1600">
                <a:latin typeface="Arial"/>
                <a:ea typeface="Arial"/>
                <a:cs typeface="Arial"/>
                <a:sym typeface="Arial"/>
              </a:rPr>
              <a:t>Web Content Accessibility Guidelines (WCAG) 2.1.</a:t>
            </a:r>
            <a:br>
              <a:rPr i="1"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→</a:t>
            </a:r>
            <a:r>
              <a:rPr lang="en-US" sz="16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7"/>
              </a:rPr>
              <a:t> </a:t>
            </a:r>
            <a:r>
              <a:rPr lang="en-US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https://www.w3.org/WAI/WCAG21/</a:t>
            </a:r>
            <a:endParaRPr sz="16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[2]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WebAIM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(2024). </a:t>
            </a:r>
            <a:r>
              <a:rPr i="1" lang="en-US" sz="1600">
                <a:latin typeface="Arial"/>
                <a:ea typeface="Arial"/>
                <a:cs typeface="Arial"/>
                <a:sym typeface="Arial"/>
              </a:rPr>
              <a:t>Contrast Checker – Evaluate Color Contrast for WCAG Compliance.</a:t>
            </a:r>
            <a:br>
              <a:rPr i="1"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→</a:t>
            </a:r>
            <a:r>
              <a:rPr lang="en-US" sz="16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9"/>
              </a:rPr>
              <a:t> </a:t>
            </a:r>
            <a:r>
              <a:rPr lang="en-US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https://webaim.org/resources/contrastchecker/</a:t>
            </a:r>
            <a:endParaRPr sz="16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[3]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Coblis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(2024). </a:t>
            </a:r>
            <a:r>
              <a:rPr i="1" lang="en-US" sz="1600">
                <a:latin typeface="Arial"/>
                <a:ea typeface="Arial"/>
                <a:cs typeface="Arial"/>
                <a:sym typeface="Arial"/>
              </a:rPr>
              <a:t>Color Blindness Simulator – Visualize Color Deficiency.</a:t>
            </a:r>
            <a:br>
              <a:rPr i="1"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→</a:t>
            </a:r>
            <a:r>
              <a:rPr lang="en-US" sz="16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1"/>
              </a:rPr>
              <a:t> </a:t>
            </a:r>
            <a:r>
              <a:rPr lang="en-US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2"/>
              </a:rPr>
              <a:t>https://www.color-blindness.com/coblis-color-blindness-simulator/</a:t>
            </a:r>
            <a:endParaRPr sz="16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[4]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Nielsen Norman Group (NNG)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(2023). </a:t>
            </a:r>
            <a:r>
              <a:rPr i="1" lang="en-US" sz="1600">
                <a:latin typeface="Arial"/>
                <a:ea typeface="Arial"/>
                <a:cs typeface="Arial"/>
                <a:sym typeface="Arial"/>
              </a:rPr>
              <a:t>Using Color to Enhance Your Design.</a:t>
            </a:r>
            <a:br>
              <a:rPr i="1"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→</a:t>
            </a:r>
            <a:r>
              <a:rPr lang="en-US" sz="16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3"/>
              </a:rPr>
              <a:t> </a:t>
            </a:r>
            <a:r>
              <a:rPr lang="en-US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4"/>
              </a:rPr>
              <a:t>https://www.nngroup.com/articles/color-enhance-design/</a:t>
            </a:r>
            <a:endParaRPr sz="16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[5]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Smashing Magazine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(2024). </a:t>
            </a:r>
            <a:r>
              <a:rPr i="1" lang="en-US" sz="1600">
                <a:latin typeface="Arial"/>
                <a:ea typeface="Arial"/>
                <a:cs typeface="Arial"/>
                <a:sym typeface="Arial"/>
              </a:rPr>
              <a:t>A Practical Guide to Designing for Colorblind People.</a:t>
            </a:r>
            <a:br>
              <a:rPr i="1"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→</a:t>
            </a:r>
            <a:r>
              <a:rPr lang="en-US" sz="16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5"/>
              </a:rPr>
              <a:t> </a:t>
            </a:r>
            <a:r>
              <a:rPr lang="en-US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6"/>
              </a:rPr>
              <a:t>https://www.smashingmagazine.com/2024/02/designing-for-colorblindness/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"/>
          <p:cNvSpPr txBox="1"/>
          <p:nvPr>
            <p:ph type="ctrTitle"/>
          </p:nvPr>
        </p:nvSpPr>
        <p:spPr>
          <a:xfrm>
            <a:off x="685800" y="2720340"/>
            <a:ext cx="7772400" cy="906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Marcellus"/>
              <a:buNone/>
            </a:pPr>
            <a:r>
              <a:rPr lang="en-US" sz="54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THANK YOU</a:t>
            </a:r>
            <a:endParaRPr sz="54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289" name="Google Shape;28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" y="2220"/>
            <a:ext cx="425219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73" y="0"/>
            <a:ext cx="157258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925" y="42800"/>
            <a:ext cx="2260325" cy="62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2"/>
          <p:cNvSpPr/>
          <p:nvPr/>
        </p:nvSpPr>
        <p:spPr>
          <a:xfrm>
            <a:off x="425675" y="6275975"/>
            <a:ext cx="1451400" cy="58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3" name="Google Shape;293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675" y="6363150"/>
            <a:ext cx="1570075" cy="45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